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AD47"/>
    <a:srgbClr val="00AF92"/>
    <a:srgbClr val="FDA007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948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221" y="1854524"/>
            <a:ext cx="9145325" cy="1656052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221" y="3602668"/>
            <a:ext cx="9145325" cy="165605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835" indent="0" algn="ctr">
              <a:buNone/>
              <a:defRPr sz="1600"/>
            </a:lvl7pPr>
            <a:lvl8pPr marL="3201035" indent="0" algn="ctr">
              <a:buNone/>
              <a:defRPr sz="1600"/>
            </a:lvl8pPr>
            <a:lvl9pPr marL="3658235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2023-10-27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321" y="1838644"/>
            <a:ext cx="10517123" cy="435209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8321" y="2187825"/>
            <a:ext cx="10517123" cy="2483549"/>
          </a:xfrm>
        </p:spPr>
        <p:txBody>
          <a:bodyPr>
            <a:normAutofit/>
          </a:bodyPr>
          <a:lstStyle>
            <a:lvl1pPr algn="ctr">
              <a:defRPr sz="60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321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321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094" y="1825944"/>
            <a:ext cx="5182351" cy="43520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910" y="365189"/>
            <a:ext cx="10517123" cy="1325795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910" y="1745267"/>
            <a:ext cx="5158534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910" y="2616067"/>
            <a:ext cx="5158534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3094" y="1745267"/>
            <a:ext cx="5183939" cy="82405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835" indent="0">
              <a:buNone/>
              <a:defRPr sz="1600" b="1"/>
            </a:lvl7pPr>
            <a:lvl8pPr marL="3201035" indent="0">
              <a:buNone/>
              <a:defRPr sz="1600" b="1"/>
            </a:lvl8pPr>
            <a:lvl9pPr marL="3658235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3094" y="2616067"/>
            <a:ext cx="5183939" cy="357467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238969" y="2159377"/>
            <a:ext cx="5715828" cy="1382692"/>
          </a:xfrm>
        </p:spPr>
        <p:txBody>
          <a:bodyPr anchor="b" anchorCtr="0">
            <a:normAutofit/>
          </a:bodyPr>
          <a:lstStyle>
            <a:lvl1pPr algn="ctr"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3238969" y="3733855"/>
            <a:ext cx="5715828" cy="1186144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321" y="713797"/>
            <a:ext cx="4682333" cy="1428411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643335" y="713797"/>
            <a:ext cx="5712710" cy="54045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835" indent="0">
              <a:buNone/>
              <a:defRPr sz="2000"/>
            </a:lvl7pPr>
            <a:lvl8pPr marL="3201035" indent="0">
              <a:buNone/>
              <a:defRPr sz="2000"/>
            </a:lvl8pPr>
            <a:lvl9pPr marL="3658235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321" y="2314277"/>
            <a:ext cx="4682333" cy="381225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835" indent="0">
              <a:buNone/>
              <a:defRPr sz="1000"/>
            </a:lvl7pPr>
            <a:lvl8pPr marL="3201035" indent="0">
              <a:buNone/>
              <a:defRPr sz="1000"/>
            </a:lvl8pPr>
            <a:lvl9pPr marL="3658235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  <a:t>2023-10-27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446412" y="365189"/>
            <a:ext cx="909033" cy="5812855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320" y="365189"/>
            <a:ext cx="9447811" cy="5812855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321" y="6357461"/>
            <a:ext cx="2743597" cy="365189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2023-10-27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9185" y="6357461"/>
            <a:ext cx="4115396" cy="36518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24549" y="6382861"/>
            <a:ext cx="2743597" cy="365189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321" y="551640"/>
            <a:ext cx="10517123" cy="555994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52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4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6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83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8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10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823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2834F8-39F9-46E5-B25D-807C39C1B203}"/>
              </a:ext>
            </a:extLst>
          </p:cNvPr>
          <p:cNvSpPr txBox="1"/>
          <p:nvPr/>
        </p:nvSpPr>
        <p:spPr>
          <a:xfrm>
            <a:off x="495300" y="1937857"/>
            <a:ext cx="2516347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+mn-ea"/>
              </a:rPr>
              <a:t>十六进制数字：</a:t>
            </a:r>
            <a:r>
              <a:rPr lang="en-US" altLang="zh-CN" sz="2000" dirty="0">
                <a:latin typeface="+mn-ea"/>
              </a:rPr>
              <a:t>34A</a:t>
            </a:r>
            <a:endParaRPr lang="zh-CN" altLang="en-US" sz="2000" dirty="0">
              <a:latin typeface="+mn-ea"/>
            </a:endParaRPr>
          </a:p>
        </p:txBody>
      </p:sp>
      <p:graphicFrame>
        <p:nvGraphicFramePr>
          <p:cNvPr id="9" name="表格 11">
            <a:extLst>
              <a:ext uri="{FF2B5EF4-FFF2-40B4-BE49-F238E27FC236}">
                <a16:creationId xmlns:a16="http://schemas.microsoft.com/office/drawing/2014/main" id="{A2E22501-8A27-43C0-ACD4-A128161DF5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183640"/>
              </p:ext>
            </p:extLst>
          </p:nvPr>
        </p:nvGraphicFramePr>
        <p:xfrm>
          <a:off x="4362276" y="1937857"/>
          <a:ext cx="5623422" cy="489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474">
                  <a:extLst>
                    <a:ext uri="{9D8B030D-6E8A-4147-A177-3AD203B41FA5}">
                      <a16:colId xmlns:a16="http://schemas.microsoft.com/office/drawing/2014/main" val="1609662033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4202506646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3125928400"/>
                    </a:ext>
                  </a:extLst>
                </a:gridCol>
              </a:tblGrid>
              <a:tr h="4895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1600" b="0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73838"/>
                  </a:ext>
                </a:extLst>
              </a:tr>
            </a:tbl>
          </a:graphicData>
        </a:graphic>
      </p:graphicFrame>
      <p:graphicFrame>
        <p:nvGraphicFramePr>
          <p:cNvPr id="29" name="表格 11">
            <a:extLst>
              <a:ext uri="{FF2B5EF4-FFF2-40B4-BE49-F238E27FC236}">
                <a16:creationId xmlns:a16="http://schemas.microsoft.com/office/drawing/2014/main" id="{91A11E89-581D-4FB1-8167-00043F0BE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343601"/>
              </p:ext>
            </p:extLst>
          </p:nvPr>
        </p:nvGraphicFramePr>
        <p:xfrm>
          <a:off x="4362276" y="3130492"/>
          <a:ext cx="5623422" cy="489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474">
                  <a:extLst>
                    <a:ext uri="{9D8B030D-6E8A-4147-A177-3AD203B41FA5}">
                      <a16:colId xmlns:a16="http://schemas.microsoft.com/office/drawing/2014/main" val="1609662033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4202506646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3125928400"/>
                    </a:ext>
                  </a:extLst>
                </a:gridCol>
              </a:tblGrid>
              <a:tr h="4895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</a:rPr>
                        <a:t>3 * 16^2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4 * 16^1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10 * 16^0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73838"/>
                  </a:ext>
                </a:extLst>
              </a:tr>
            </a:tbl>
          </a:graphicData>
        </a:graphic>
      </p:graphicFrame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8A05F9D-1E0F-4885-A65A-8D61278F6B43}"/>
              </a:ext>
            </a:extLst>
          </p:cNvPr>
          <p:cNvCxnSpPr>
            <a:cxnSpLocks/>
          </p:cNvCxnSpPr>
          <p:nvPr/>
        </p:nvCxnSpPr>
        <p:spPr>
          <a:xfrm>
            <a:off x="7052345" y="2558642"/>
            <a:ext cx="0" cy="4530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2" name="表格 11">
            <a:extLst>
              <a:ext uri="{FF2B5EF4-FFF2-40B4-BE49-F238E27FC236}">
                <a16:creationId xmlns:a16="http://schemas.microsoft.com/office/drawing/2014/main" id="{D7F4CE07-4D01-420B-80C8-E6DFC340A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3064065"/>
              </p:ext>
            </p:extLst>
          </p:nvPr>
        </p:nvGraphicFramePr>
        <p:xfrm>
          <a:off x="4362276" y="4323127"/>
          <a:ext cx="5623422" cy="4895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474">
                  <a:extLst>
                    <a:ext uri="{9D8B030D-6E8A-4147-A177-3AD203B41FA5}">
                      <a16:colId xmlns:a16="http://schemas.microsoft.com/office/drawing/2014/main" val="1609662033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4202506646"/>
                    </a:ext>
                  </a:extLst>
                </a:gridCol>
                <a:gridCol w="1874474">
                  <a:extLst>
                    <a:ext uri="{9D8B030D-6E8A-4147-A177-3AD203B41FA5}">
                      <a16:colId xmlns:a16="http://schemas.microsoft.com/office/drawing/2014/main" val="3125928400"/>
                    </a:ext>
                  </a:extLst>
                </a:gridCol>
              </a:tblGrid>
              <a:tr h="4895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baseline="0" dirty="0">
                          <a:solidFill>
                            <a:schemeClr val="tx1"/>
                          </a:solidFill>
                        </a:rPr>
                        <a:t>3 * 256 = 768</a:t>
                      </a:r>
                      <a:endParaRPr lang="zh-CN" altLang="en-US" sz="1600" b="1" baseline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4 * 16 = 64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10 * 1 = 10</a:t>
                      </a:r>
                      <a:endParaRPr lang="zh-CN" alt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573838"/>
                  </a:ext>
                </a:extLst>
              </a:tr>
            </a:tbl>
          </a:graphicData>
        </a:graphic>
      </p:graphicFrame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FCA87E5B-93CE-4274-A60A-2C8ADE2F67A1}"/>
              </a:ext>
            </a:extLst>
          </p:cNvPr>
          <p:cNvCxnSpPr>
            <a:cxnSpLocks/>
          </p:cNvCxnSpPr>
          <p:nvPr/>
        </p:nvCxnSpPr>
        <p:spPr>
          <a:xfrm>
            <a:off x="7052345" y="3730188"/>
            <a:ext cx="0" cy="4530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68FC51C9-8DD5-4062-A68C-5B845715C6D2}"/>
              </a:ext>
            </a:extLst>
          </p:cNvPr>
          <p:cNvSpPr txBox="1"/>
          <p:nvPr/>
        </p:nvSpPr>
        <p:spPr>
          <a:xfrm>
            <a:off x="4688341" y="5641597"/>
            <a:ext cx="4971291" cy="40011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 sz="2000" dirty="0">
                <a:latin typeface="+mn-ea"/>
              </a:rPr>
              <a:t>对应十进制数字： </a:t>
            </a:r>
            <a:r>
              <a:rPr lang="en-US" altLang="zh-CN" sz="2000" dirty="0">
                <a:latin typeface="+mn-ea"/>
              </a:rPr>
              <a:t>768 + 64 + 10 = 842</a:t>
            </a:r>
            <a:endParaRPr lang="zh-CN" altLang="en-US" sz="2000" dirty="0">
              <a:latin typeface="+mn-ea"/>
            </a:endParaRPr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F58ABB51-CCAD-4F38-98C6-963DD04828F5}"/>
              </a:ext>
            </a:extLst>
          </p:cNvPr>
          <p:cNvCxnSpPr>
            <a:cxnSpLocks/>
          </p:cNvCxnSpPr>
          <p:nvPr/>
        </p:nvCxnSpPr>
        <p:spPr>
          <a:xfrm>
            <a:off x="7052345" y="4994478"/>
            <a:ext cx="0" cy="45300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CF718C26-DF3A-2B19-B2A2-B66CE693F6E6}"/>
              </a:ext>
            </a:extLst>
          </p:cNvPr>
          <p:cNvSpPr txBox="1"/>
          <p:nvPr/>
        </p:nvSpPr>
        <p:spPr>
          <a:xfrm>
            <a:off x="2085975" y="284565"/>
            <a:ext cx="3707230" cy="369332"/>
          </a:xfrm>
          <a:prstGeom prst="rect">
            <a:avLst/>
          </a:prstGeom>
          <a:solidFill>
            <a:schemeClr val="l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需求：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0x34A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转成十进制的数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334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4" grpId="0" animBg="1"/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c064124-f537-4a0d-887a-4f44502825de"/>
  <p:tag name="COMMONDATA" val="eyJoZGlkIjoiNWM2ZTM5MWI1NGI2YTlmMTlhZGVmZWRhMzc2ZTZj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>
          <a:noFill/>
        </a:ln>
      </a:spPr>
      <a:bodyPr wrap="square" rtlCol="0">
        <a:spAutoFit/>
      </a:bodyPr>
      <a:lstStyle>
        <a:defPPr algn="l">
          <a:defRPr sz="1600" dirty="0" smtClean="0">
            <a:latin typeface="宋体" panose="02010600030101010101" pitchFamily="2" charset="-122"/>
            <a:ea typeface="宋体" panose="02010600030101010101" pitchFamily="2" charset="-122"/>
          </a:defRPr>
        </a:defPPr>
      </a:lstStyle>
      <a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宽屏</PresentationFormat>
  <Paragraphs>12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微软雅黑</vt:lpstr>
      <vt:lpstr>Arial</vt:lpstr>
      <vt:lpstr>Calibri</vt:lpstr>
      <vt:lpstr>Times New Roman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</cp:revision>
  <dcterms:created xsi:type="dcterms:W3CDTF">2018-03-01T02:03:00Z</dcterms:created>
  <dcterms:modified xsi:type="dcterms:W3CDTF">2023-10-27T06:24:13Z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F7B4B2F6CD0549B6AE63142D8D89DB87_12</vt:lpwstr>
  </property>
</Properties>
</file>