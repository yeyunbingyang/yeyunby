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4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2834F8-39F9-46E5-B25D-807C39C1B203}"/>
              </a:ext>
            </a:extLst>
          </p:cNvPr>
          <p:cNvSpPr txBox="1"/>
          <p:nvPr/>
        </p:nvSpPr>
        <p:spPr>
          <a:xfrm>
            <a:off x="495300" y="1937857"/>
            <a:ext cx="233680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二进制数字：</a:t>
            </a:r>
            <a:r>
              <a:rPr lang="en-US" altLang="zh-CN" sz="2000" dirty="0">
                <a:latin typeface="+mn-ea"/>
              </a:rPr>
              <a:t>1011</a:t>
            </a:r>
            <a:endParaRPr lang="zh-CN" altLang="en-US" sz="2000" dirty="0">
              <a:latin typeface="+mn-ea"/>
            </a:endParaRPr>
          </a:p>
        </p:txBody>
      </p:sp>
      <p:graphicFrame>
        <p:nvGraphicFramePr>
          <p:cNvPr id="9" name="表格 11">
            <a:extLst>
              <a:ext uri="{FF2B5EF4-FFF2-40B4-BE49-F238E27FC236}">
                <a16:creationId xmlns:a16="http://schemas.microsoft.com/office/drawing/2014/main" id="{A2E22501-8A27-43C0-ACD4-A128161D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32579"/>
              </p:ext>
            </p:extLst>
          </p:nvPr>
        </p:nvGraphicFramePr>
        <p:xfrm>
          <a:off x="3405931" y="1862356"/>
          <a:ext cx="7497896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474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graphicFrame>
        <p:nvGraphicFramePr>
          <p:cNvPr id="29" name="表格 11">
            <a:extLst>
              <a:ext uri="{FF2B5EF4-FFF2-40B4-BE49-F238E27FC236}">
                <a16:creationId xmlns:a16="http://schemas.microsoft.com/office/drawing/2014/main" id="{91A11E89-581D-4FB1-8167-00043F0BE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84390"/>
              </p:ext>
            </p:extLst>
          </p:nvPr>
        </p:nvGraphicFramePr>
        <p:xfrm>
          <a:off x="3405931" y="3054991"/>
          <a:ext cx="7497896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474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</a:rPr>
                        <a:t>1*2^3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0*2^2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1*2^1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1*2^0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8A05F9D-1E0F-4885-A65A-8D61278F6B43}"/>
              </a:ext>
            </a:extLst>
          </p:cNvPr>
          <p:cNvCxnSpPr>
            <a:cxnSpLocks/>
          </p:cNvCxnSpPr>
          <p:nvPr/>
        </p:nvCxnSpPr>
        <p:spPr>
          <a:xfrm>
            <a:off x="7154879" y="2457974"/>
            <a:ext cx="0" cy="453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表格 11">
            <a:extLst>
              <a:ext uri="{FF2B5EF4-FFF2-40B4-BE49-F238E27FC236}">
                <a16:creationId xmlns:a16="http://schemas.microsoft.com/office/drawing/2014/main" id="{D7F4CE07-4D01-420B-80C8-E6DFC340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61717"/>
              </p:ext>
            </p:extLst>
          </p:nvPr>
        </p:nvGraphicFramePr>
        <p:xfrm>
          <a:off x="3405931" y="4247626"/>
          <a:ext cx="7497896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474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CA87E5B-93CE-4274-A60A-2C8ADE2F67A1}"/>
              </a:ext>
            </a:extLst>
          </p:cNvPr>
          <p:cNvCxnSpPr>
            <a:cxnSpLocks/>
          </p:cNvCxnSpPr>
          <p:nvPr/>
        </p:nvCxnSpPr>
        <p:spPr>
          <a:xfrm>
            <a:off x="7154879" y="3663076"/>
            <a:ext cx="0" cy="453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8FC51C9-8DD5-4062-A68C-5B845715C6D2}"/>
              </a:ext>
            </a:extLst>
          </p:cNvPr>
          <p:cNvSpPr txBox="1"/>
          <p:nvPr/>
        </p:nvSpPr>
        <p:spPr>
          <a:xfrm>
            <a:off x="5019997" y="5440261"/>
            <a:ext cx="4269763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对应十进制数字： </a:t>
            </a:r>
            <a:r>
              <a:rPr lang="en-US" altLang="zh-CN" sz="2000" dirty="0">
                <a:latin typeface="+mn-ea"/>
              </a:rPr>
              <a:t>8 + 2 + 1 = 11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58ABB51-CCAD-4F38-98C6-963DD04828F5}"/>
              </a:ext>
            </a:extLst>
          </p:cNvPr>
          <p:cNvCxnSpPr>
            <a:cxnSpLocks/>
          </p:cNvCxnSpPr>
          <p:nvPr/>
        </p:nvCxnSpPr>
        <p:spPr>
          <a:xfrm>
            <a:off x="7154879" y="4893810"/>
            <a:ext cx="0" cy="453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E8810AD-A098-ABC1-6714-F56F90FB491B}"/>
              </a:ext>
            </a:extLst>
          </p:cNvPr>
          <p:cNvSpPr txBox="1"/>
          <p:nvPr/>
        </p:nvSpPr>
        <p:spPr>
          <a:xfrm>
            <a:off x="2104023" y="284565"/>
            <a:ext cx="4320841" cy="369332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需求：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请将二进制</a:t>
            </a:r>
            <a:r>
              <a:rPr lang="zh-CN" altLang="zh-CN" sz="18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ea typeface="Times New Roman" panose="02020603050405020304" pitchFamily="18" charset="0"/>
              </a:rPr>
              <a:t>1011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转成十进制的数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4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2023-10-27T06:23:37Z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