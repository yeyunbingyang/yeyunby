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00AF92"/>
    <a:srgbClr val="FDA007"/>
    <a:srgbClr val="006450"/>
    <a:srgbClr val="028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10" y="5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221" y="1854524"/>
            <a:ext cx="9145325" cy="1656052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221" y="3602668"/>
            <a:ext cx="9145325" cy="165605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2025/2/13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321" y="1838644"/>
            <a:ext cx="10517123" cy="43520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2025/2/13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321" y="2187825"/>
            <a:ext cx="10517123" cy="2483549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321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094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10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10" y="1745267"/>
            <a:ext cx="5158534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10" y="2616067"/>
            <a:ext cx="5158534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094" y="1745267"/>
            <a:ext cx="5183939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094" y="2616067"/>
            <a:ext cx="5183939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969" y="2159377"/>
            <a:ext cx="5715828" cy="1382692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969" y="3733855"/>
            <a:ext cx="5715828" cy="1186144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321" y="713797"/>
            <a:ext cx="4682333" cy="142841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3335" y="713797"/>
            <a:ext cx="5712710" cy="54045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321" y="2314277"/>
            <a:ext cx="4682333" cy="38122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2025/2/13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6412" y="365189"/>
            <a:ext cx="909033" cy="5812855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320" y="365189"/>
            <a:ext cx="9447811" cy="5812855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321" y="551640"/>
            <a:ext cx="10517123" cy="555994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02834F8-39F9-46E5-B25D-807C39C1B203}"/>
              </a:ext>
            </a:extLst>
          </p:cNvPr>
          <p:cNvSpPr txBox="1"/>
          <p:nvPr/>
        </p:nvSpPr>
        <p:spPr>
          <a:xfrm>
            <a:off x="1060781" y="1166070"/>
            <a:ext cx="2986131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latin typeface="+mn-ea"/>
              </a:rPr>
              <a:t>二进制数字</a:t>
            </a:r>
            <a:r>
              <a:rPr lang="zh-CN" altLang="en-US" sz="2000">
                <a:latin typeface="+mn-ea"/>
              </a:rPr>
              <a:t>：</a:t>
            </a:r>
            <a:r>
              <a:rPr lang="en-US" altLang="zh-CN" sz="2000">
                <a:latin typeface="+mn-ea"/>
              </a:rPr>
              <a:t>1001011</a:t>
            </a:r>
            <a:endParaRPr lang="zh-CN" altLang="en-US" sz="2000" dirty="0">
              <a:latin typeface="+mn-ea"/>
            </a:endParaRPr>
          </a:p>
        </p:txBody>
      </p:sp>
      <p:graphicFrame>
        <p:nvGraphicFramePr>
          <p:cNvPr id="9" name="表格 11">
            <a:extLst>
              <a:ext uri="{FF2B5EF4-FFF2-40B4-BE49-F238E27FC236}">
                <a16:creationId xmlns:a16="http://schemas.microsoft.com/office/drawing/2014/main" id="{A2E22501-8A27-43C0-ACD4-A128161DF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16271"/>
              </p:ext>
            </p:extLst>
          </p:nvPr>
        </p:nvGraphicFramePr>
        <p:xfrm>
          <a:off x="1162640" y="1921079"/>
          <a:ext cx="9866720" cy="421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3340">
                  <a:extLst>
                    <a:ext uri="{9D8B030D-6E8A-4147-A177-3AD203B41FA5}">
                      <a16:colId xmlns:a16="http://schemas.microsoft.com/office/drawing/2014/main" val="1609662033"/>
                    </a:ext>
                  </a:extLst>
                </a:gridCol>
                <a:gridCol w="1233340">
                  <a:extLst>
                    <a:ext uri="{9D8B030D-6E8A-4147-A177-3AD203B41FA5}">
                      <a16:colId xmlns:a16="http://schemas.microsoft.com/office/drawing/2014/main" val="4202506646"/>
                    </a:ext>
                  </a:extLst>
                </a:gridCol>
                <a:gridCol w="1233340">
                  <a:extLst>
                    <a:ext uri="{9D8B030D-6E8A-4147-A177-3AD203B41FA5}">
                      <a16:colId xmlns:a16="http://schemas.microsoft.com/office/drawing/2014/main" val="3125928400"/>
                    </a:ext>
                  </a:extLst>
                </a:gridCol>
                <a:gridCol w="1233340">
                  <a:extLst>
                    <a:ext uri="{9D8B030D-6E8A-4147-A177-3AD203B41FA5}">
                      <a16:colId xmlns:a16="http://schemas.microsoft.com/office/drawing/2014/main" val="1380778868"/>
                    </a:ext>
                  </a:extLst>
                </a:gridCol>
                <a:gridCol w="1233340">
                  <a:extLst>
                    <a:ext uri="{9D8B030D-6E8A-4147-A177-3AD203B41FA5}">
                      <a16:colId xmlns:a16="http://schemas.microsoft.com/office/drawing/2014/main" val="3254144800"/>
                    </a:ext>
                  </a:extLst>
                </a:gridCol>
                <a:gridCol w="1233340">
                  <a:extLst>
                    <a:ext uri="{9D8B030D-6E8A-4147-A177-3AD203B41FA5}">
                      <a16:colId xmlns:a16="http://schemas.microsoft.com/office/drawing/2014/main" val="2998604607"/>
                    </a:ext>
                  </a:extLst>
                </a:gridCol>
                <a:gridCol w="1233340">
                  <a:extLst>
                    <a:ext uri="{9D8B030D-6E8A-4147-A177-3AD203B41FA5}">
                      <a16:colId xmlns:a16="http://schemas.microsoft.com/office/drawing/2014/main" val="1345200160"/>
                    </a:ext>
                  </a:extLst>
                </a:gridCol>
                <a:gridCol w="1233340">
                  <a:extLst>
                    <a:ext uri="{9D8B030D-6E8A-4147-A177-3AD203B41FA5}">
                      <a16:colId xmlns:a16="http://schemas.microsoft.com/office/drawing/2014/main" val="3796843970"/>
                    </a:ext>
                  </a:extLst>
                </a:gridCol>
              </a:tblGrid>
              <a:tr h="4217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</a:t>
                      </a:r>
                      <a:endParaRPr lang="zh-CN" altLang="en-US" sz="2000" b="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73838"/>
                  </a:ext>
                </a:extLst>
              </a:tr>
            </a:tbl>
          </a:graphicData>
        </a:graphic>
      </p:graphicFrame>
      <p:sp>
        <p:nvSpPr>
          <p:cNvPr id="4" name="左大括号 3">
            <a:extLst>
              <a:ext uri="{FF2B5EF4-FFF2-40B4-BE49-F238E27FC236}">
                <a16:creationId xmlns:a16="http://schemas.microsoft.com/office/drawing/2014/main" id="{6965A0E3-8FBA-4599-95D0-5A602531056E}"/>
              </a:ext>
            </a:extLst>
          </p:cNvPr>
          <p:cNvSpPr/>
          <p:nvPr/>
        </p:nvSpPr>
        <p:spPr>
          <a:xfrm rot="16200000">
            <a:off x="8225538" y="502881"/>
            <a:ext cx="637321" cy="4896397"/>
          </a:xfrm>
          <a:prstGeom prst="leftBrace">
            <a:avLst/>
          </a:prstGeom>
          <a:noFill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DA3B77E7-0146-4B50-B13C-4803840877B4}"/>
              </a:ext>
            </a:extLst>
          </p:cNvPr>
          <p:cNvSpPr/>
          <p:nvPr/>
        </p:nvSpPr>
        <p:spPr>
          <a:xfrm rot="16200000">
            <a:off x="3292179" y="465918"/>
            <a:ext cx="637321" cy="4970324"/>
          </a:xfrm>
          <a:prstGeom prst="leftBrace">
            <a:avLst/>
          </a:prstGeom>
          <a:noFill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3754CCE3-EADD-48CA-BCEE-D5F5A8D64BC5}"/>
              </a:ext>
            </a:extLst>
          </p:cNvPr>
          <p:cNvSpPr/>
          <p:nvPr/>
        </p:nvSpPr>
        <p:spPr>
          <a:xfrm rot="16200000">
            <a:off x="5758859" y="407454"/>
            <a:ext cx="637321" cy="9829755"/>
          </a:xfrm>
          <a:prstGeom prst="leftBrace">
            <a:avLst/>
          </a:prstGeom>
          <a:noFill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F055D67-8E08-4219-A475-F8FF37C5134F}"/>
              </a:ext>
            </a:extLst>
          </p:cNvPr>
          <p:cNvSpPr txBox="1"/>
          <p:nvPr/>
        </p:nvSpPr>
        <p:spPr>
          <a:xfrm>
            <a:off x="4529340" y="5748294"/>
            <a:ext cx="3136466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latin typeface="+mn-ea"/>
              </a:rPr>
              <a:t>十六进制数字：</a:t>
            </a:r>
            <a:r>
              <a:rPr lang="en-US" altLang="zh-CN" sz="2000">
                <a:latin typeface="+mn-ea"/>
              </a:rPr>
              <a:t>4B</a:t>
            </a:r>
            <a:endParaRPr lang="zh-CN" altLang="en-US" sz="2000" dirty="0">
              <a:latin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C815C31-0598-4FA8-B14C-A9BFC17ACB8B}"/>
              </a:ext>
            </a:extLst>
          </p:cNvPr>
          <p:cNvGrpSpPr/>
          <p:nvPr/>
        </p:nvGrpSpPr>
        <p:grpSpPr>
          <a:xfrm>
            <a:off x="6347458" y="3515655"/>
            <a:ext cx="726810" cy="429518"/>
            <a:chOff x="6040088" y="3862295"/>
            <a:chExt cx="726810" cy="429518"/>
          </a:xfrm>
          <a:noFill/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7A8BF52-8791-40B9-8BE8-1EF24DA8B04D}"/>
                </a:ext>
              </a:extLst>
            </p:cNvPr>
            <p:cNvSpPr txBox="1"/>
            <p:nvPr/>
          </p:nvSpPr>
          <p:spPr>
            <a:xfrm>
              <a:off x="6040088" y="3891703"/>
              <a:ext cx="707217" cy="4001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en-US" altLang="zh-CN" sz="2000" b="1">
                  <a:latin typeface="+mn-ea"/>
                </a:rPr>
                <a:t>1×2</a:t>
              </a:r>
              <a:endParaRPr lang="zh-CN" altLang="en-US" sz="1200" b="1" dirty="0">
                <a:latin typeface="+mn-ea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416853C-5A2F-403A-BC9B-532ADE6824D4}"/>
                </a:ext>
              </a:extLst>
            </p:cNvPr>
            <p:cNvSpPr txBox="1"/>
            <p:nvPr/>
          </p:nvSpPr>
          <p:spPr>
            <a:xfrm>
              <a:off x="6517722" y="3862295"/>
              <a:ext cx="249176" cy="305621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altLang="zh-CN" sz="1400" b="1">
                  <a:latin typeface="+mn-ea"/>
                </a:rPr>
                <a:t>3</a:t>
              </a:r>
              <a:endParaRPr lang="zh-CN" altLang="en-US" sz="1400" b="1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111F00A-4888-4D2A-B931-8D9164FC4B87}"/>
              </a:ext>
            </a:extLst>
          </p:cNvPr>
          <p:cNvGrpSpPr/>
          <p:nvPr/>
        </p:nvGrpSpPr>
        <p:grpSpPr>
          <a:xfrm>
            <a:off x="7566484" y="3515655"/>
            <a:ext cx="726810" cy="429518"/>
            <a:chOff x="6040088" y="3862295"/>
            <a:chExt cx="726810" cy="429518"/>
          </a:xfrm>
          <a:noFill/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76D7FBA-7167-437D-A962-849842BE4DB9}"/>
                </a:ext>
              </a:extLst>
            </p:cNvPr>
            <p:cNvSpPr txBox="1"/>
            <p:nvPr/>
          </p:nvSpPr>
          <p:spPr>
            <a:xfrm>
              <a:off x="6040088" y="3891703"/>
              <a:ext cx="707217" cy="4001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en-US" altLang="zh-CN" sz="2000" b="1">
                  <a:latin typeface="+mn-ea"/>
                </a:rPr>
                <a:t>0×2</a:t>
              </a:r>
              <a:endParaRPr lang="zh-CN" altLang="en-US" sz="1200" b="1" dirty="0">
                <a:latin typeface="+mn-ea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61817DAC-6C3D-48A2-B512-59F9638ABE2E}"/>
                </a:ext>
              </a:extLst>
            </p:cNvPr>
            <p:cNvSpPr txBox="1"/>
            <p:nvPr/>
          </p:nvSpPr>
          <p:spPr>
            <a:xfrm>
              <a:off x="6517722" y="3862295"/>
              <a:ext cx="249176" cy="305621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altLang="zh-CN" sz="1400" b="1">
                  <a:latin typeface="+mn-ea"/>
                </a:rPr>
                <a:t>2</a:t>
              </a:r>
              <a:endParaRPr lang="zh-CN" altLang="en-US" sz="1400" b="1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4369049-66FD-4ABA-8F63-E6E8D3B6D807}"/>
              </a:ext>
            </a:extLst>
          </p:cNvPr>
          <p:cNvGrpSpPr/>
          <p:nvPr/>
        </p:nvGrpSpPr>
        <p:grpSpPr>
          <a:xfrm>
            <a:off x="8785510" y="3515657"/>
            <a:ext cx="726810" cy="431132"/>
            <a:chOff x="6040088" y="3862295"/>
            <a:chExt cx="726810" cy="408704"/>
          </a:xfrm>
          <a:noFill/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74787DB-D0AD-4BEE-8475-9D6859CE95F2}"/>
                </a:ext>
              </a:extLst>
            </p:cNvPr>
            <p:cNvSpPr txBox="1"/>
            <p:nvPr/>
          </p:nvSpPr>
          <p:spPr>
            <a:xfrm>
              <a:off x="6040088" y="3891703"/>
              <a:ext cx="707217" cy="3792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en-US" altLang="zh-CN" sz="2000" b="1">
                  <a:latin typeface="+mn-ea"/>
                </a:rPr>
                <a:t>1×2</a:t>
              </a:r>
              <a:endParaRPr lang="zh-CN" altLang="en-US" sz="1200" b="1" dirty="0">
                <a:latin typeface="+mn-ea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47BDC99-718F-4DEC-A74C-F786A1844BC9}"/>
                </a:ext>
              </a:extLst>
            </p:cNvPr>
            <p:cNvSpPr txBox="1"/>
            <p:nvPr/>
          </p:nvSpPr>
          <p:spPr>
            <a:xfrm>
              <a:off x="6517722" y="3862295"/>
              <a:ext cx="249176" cy="291766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altLang="zh-CN" sz="1400" b="1">
                  <a:latin typeface="+mn-ea"/>
                </a:rPr>
                <a:t>1</a:t>
              </a:r>
              <a:endParaRPr lang="zh-CN" altLang="en-US" sz="1400" b="1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1317D5D-515B-41AD-841B-2B8A85A5E4E3}"/>
              </a:ext>
            </a:extLst>
          </p:cNvPr>
          <p:cNvGrpSpPr/>
          <p:nvPr/>
        </p:nvGrpSpPr>
        <p:grpSpPr>
          <a:xfrm>
            <a:off x="10004536" y="3515655"/>
            <a:ext cx="726810" cy="429518"/>
            <a:chOff x="6040088" y="3862295"/>
            <a:chExt cx="726810" cy="429518"/>
          </a:xfrm>
          <a:noFill/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3F17284-DC7D-48C3-8AED-123121E22CBA}"/>
                </a:ext>
              </a:extLst>
            </p:cNvPr>
            <p:cNvSpPr txBox="1"/>
            <p:nvPr/>
          </p:nvSpPr>
          <p:spPr>
            <a:xfrm>
              <a:off x="6040088" y="3891703"/>
              <a:ext cx="707217" cy="4001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en-US" altLang="zh-CN" sz="2000" b="1">
                  <a:latin typeface="+mn-ea"/>
                </a:rPr>
                <a:t>1×2</a:t>
              </a:r>
              <a:endParaRPr lang="zh-CN" altLang="en-US" sz="1200" b="1" dirty="0">
                <a:latin typeface="+mn-ea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5E215E9-D78C-4EB7-8088-8431A1415CBE}"/>
                </a:ext>
              </a:extLst>
            </p:cNvPr>
            <p:cNvSpPr txBox="1"/>
            <p:nvPr/>
          </p:nvSpPr>
          <p:spPr>
            <a:xfrm>
              <a:off x="6517722" y="3862295"/>
              <a:ext cx="249176" cy="305621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altLang="zh-CN" sz="1400" b="1">
                  <a:latin typeface="+mn-ea"/>
                </a:rPr>
                <a:t>0</a:t>
              </a:r>
              <a:endParaRPr lang="zh-CN" altLang="en-US" sz="1400" b="1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F63038E-DDE1-4187-9E8A-1D249BA4D2FF}"/>
              </a:ext>
            </a:extLst>
          </p:cNvPr>
          <p:cNvGrpSpPr/>
          <p:nvPr/>
        </p:nvGrpSpPr>
        <p:grpSpPr>
          <a:xfrm>
            <a:off x="7137370" y="3544612"/>
            <a:ext cx="2825305" cy="400110"/>
            <a:chOff x="7137370" y="3544612"/>
            <a:chExt cx="2825305" cy="400110"/>
          </a:xfrm>
          <a:noFill/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03EF149-BD4A-4273-8A87-789A061B7E17}"/>
                </a:ext>
              </a:extLst>
            </p:cNvPr>
            <p:cNvSpPr txBox="1"/>
            <p:nvPr/>
          </p:nvSpPr>
          <p:spPr>
            <a:xfrm>
              <a:off x="7137370" y="3544612"/>
              <a:ext cx="366011" cy="4001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en-US" altLang="zh-CN" sz="2000" b="1">
                  <a:solidFill>
                    <a:srgbClr val="FF0000"/>
                  </a:solidFill>
                  <a:latin typeface="+mn-ea"/>
                </a:rPr>
                <a:t>+</a:t>
              </a:r>
              <a:endParaRPr lang="zh-CN" altLang="en-US" sz="12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04B2C91-2B0F-40E4-B094-988E109C04E4}"/>
                </a:ext>
              </a:extLst>
            </p:cNvPr>
            <p:cNvSpPr txBox="1"/>
            <p:nvPr/>
          </p:nvSpPr>
          <p:spPr>
            <a:xfrm>
              <a:off x="8367017" y="3544612"/>
              <a:ext cx="366011" cy="4001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en-US" altLang="zh-CN" sz="2000" b="1">
                  <a:solidFill>
                    <a:srgbClr val="FF0000"/>
                  </a:solidFill>
                  <a:latin typeface="+mn-ea"/>
                </a:rPr>
                <a:t>+</a:t>
              </a:r>
              <a:endParaRPr lang="zh-CN" altLang="en-US" sz="12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FD60F5F-0C38-452B-A107-56DF0156CEB9}"/>
                </a:ext>
              </a:extLst>
            </p:cNvPr>
            <p:cNvSpPr txBox="1"/>
            <p:nvPr/>
          </p:nvSpPr>
          <p:spPr>
            <a:xfrm>
              <a:off x="9596664" y="3544612"/>
              <a:ext cx="366011" cy="4001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en-US" altLang="zh-CN" sz="2000" b="1">
                  <a:solidFill>
                    <a:srgbClr val="FF0000"/>
                  </a:solidFill>
                  <a:latin typeface="+mn-ea"/>
                </a:rPr>
                <a:t>+</a:t>
              </a:r>
              <a:endParaRPr lang="zh-CN" altLang="en-US" sz="1200" b="1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58CBDF27-6A72-42E5-AF8F-C4238E696C1B}"/>
              </a:ext>
            </a:extLst>
          </p:cNvPr>
          <p:cNvSpPr txBox="1"/>
          <p:nvPr/>
        </p:nvSpPr>
        <p:spPr>
          <a:xfrm>
            <a:off x="6338355" y="4067191"/>
            <a:ext cx="1362199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>
                <a:latin typeface="+mn-ea"/>
              </a:rPr>
              <a:t>= 11</a:t>
            </a:r>
            <a:r>
              <a:rPr lang="en-US" altLang="zh-CN" sz="1400">
                <a:solidFill>
                  <a:schemeClr val="bg2">
                    <a:lumMod val="75000"/>
                  </a:schemeClr>
                </a:solidFill>
                <a:latin typeface="+mn-ea"/>
              </a:rPr>
              <a:t>(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+mn-ea"/>
              </a:rPr>
              <a:t>十进制</a:t>
            </a:r>
            <a:r>
              <a:rPr lang="en-US" altLang="zh-CN" sz="1400">
                <a:solidFill>
                  <a:schemeClr val="bg2">
                    <a:lumMod val="75000"/>
                  </a:schemeClr>
                </a:solidFill>
                <a:latin typeface="+mn-ea"/>
              </a:rPr>
              <a:t>)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B5B9AB3-4886-4DEB-9CF9-CD5978EC75DE}"/>
              </a:ext>
            </a:extLst>
          </p:cNvPr>
          <p:cNvSpPr txBox="1"/>
          <p:nvPr/>
        </p:nvSpPr>
        <p:spPr>
          <a:xfrm>
            <a:off x="6347458" y="4535432"/>
            <a:ext cx="1568633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>
                <a:latin typeface="+mn-ea"/>
              </a:rPr>
              <a:t>= B </a:t>
            </a:r>
            <a:r>
              <a:rPr lang="en-US" altLang="zh-CN" sz="1400">
                <a:solidFill>
                  <a:schemeClr val="bg2">
                    <a:lumMod val="75000"/>
                  </a:schemeClr>
                </a:solidFill>
                <a:latin typeface="+mn-ea"/>
              </a:rPr>
              <a:t>(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+mn-ea"/>
              </a:rPr>
              <a:t>十六进制</a:t>
            </a:r>
            <a:r>
              <a:rPr lang="en-US" altLang="zh-CN" sz="1400">
                <a:solidFill>
                  <a:schemeClr val="bg2">
                    <a:lumMod val="75000"/>
                  </a:schemeClr>
                </a:solidFill>
                <a:latin typeface="+mn-ea"/>
              </a:rPr>
              <a:t>)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FBEF05E-8A3F-422F-8CCB-8D82A27E76A3}"/>
              </a:ext>
            </a:extLst>
          </p:cNvPr>
          <p:cNvGrpSpPr/>
          <p:nvPr/>
        </p:nvGrpSpPr>
        <p:grpSpPr>
          <a:xfrm>
            <a:off x="1339709" y="3544612"/>
            <a:ext cx="726810" cy="429518"/>
            <a:chOff x="6040088" y="3862295"/>
            <a:chExt cx="726810" cy="429518"/>
          </a:xfrm>
          <a:noFill/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BA209013-4966-4B36-99E2-E5071206E9AA}"/>
                </a:ext>
              </a:extLst>
            </p:cNvPr>
            <p:cNvSpPr txBox="1"/>
            <p:nvPr/>
          </p:nvSpPr>
          <p:spPr>
            <a:xfrm>
              <a:off x="6040088" y="3891703"/>
              <a:ext cx="707217" cy="4001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en-US" altLang="zh-CN" sz="2000" b="1">
                  <a:latin typeface="+mn-ea"/>
                </a:rPr>
                <a:t>0×2</a:t>
              </a:r>
              <a:endParaRPr lang="zh-CN" altLang="en-US" sz="1200" b="1" dirty="0">
                <a:latin typeface="+mn-ea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3D98F0CC-04EA-459F-998F-2A252339B96F}"/>
                </a:ext>
              </a:extLst>
            </p:cNvPr>
            <p:cNvSpPr txBox="1"/>
            <p:nvPr/>
          </p:nvSpPr>
          <p:spPr>
            <a:xfrm>
              <a:off x="6517722" y="3862295"/>
              <a:ext cx="249176" cy="305621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altLang="zh-CN" sz="1400" b="1">
                  <a:latin typeface="+mn-ea"/>
                </a:rPr>
                <a:t>3</a:t>
              </a:r>
              <a:endParaRPr lang="zh-CN" altLang="en-US" sz="1400" b="1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6DDE8AF-73BE-4D1B-B7B4-F70628B78C36}"/>
              </a:ext>
            </a:extLst>
          </p:cNvPr>
          <p:cNvGrpSpPr/>
          <p:nvPr/>
        </p:nvGrpSpPr>
        <p:grpSpPr>
          <a:xfrm>
            <a:off x="2558735" y="3544612"/>
            <a:ext cx="726810" cy="429518"/>
            <a:chOff x="6040088" y="3862295"/>
            <a:chExt cx="726810" cy="429518"/>
          </a:xfrm>
          <a:noFill/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CC701B0-B49E-4A8D-96CD-220BC1642854}"/>
                </a:ext>
              </a:extLst>
            </p:cNvPr>
            <p:cNvSpPr txBox="1"/>
            <p:nvPr/>
          </p:nvSpPr>
          <p:spPr>
            <a:xfrm>
              <a:off x="6040088" y="3891703"/>
              <a:ext cx="707217" cy="4001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en-US" altLang="zh-CN" sz="2000" b="1" dirty="0">
                  <a:latin typeface="+mn-ea"/>
                </a:rPr>
                <a:t>1×2</a:t>
              </a:r>
              <a:endParaRPr lang="zh-CN" altLang="en-US" sz="1200" b="1" dirty="0">
                <a:latin typeface="+mn-ea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7214C0E5-6924-4053-8FFC-42B3283ED678}"/>
                </a:ext>
              </a:extLst>
            </p:cNvPr>
            <p:cNvSpPr txBox="1"/>
            <p:nvPr/>
          </p:nvSpPr>
          <p:spPr>
            <a:xfrm>
              <a:off x="6517722" y="3862295"/>
              <a:ext cx="249176" cy="305621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altLang="zh-CN" sz="1400" b="1">
                  <a:latin typeface="+mn-ea"/>
                </a:rPr>
                <a:t>2</a:t>
              </a:r>
              <a:endParaRPr lang="zh-CN" altLang="en-US" sz="1400" b="1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4061CEF-407E-4392-A95F-75345ABCEFE7}"/>
              </a:ext>
            </a:extLst>
          </p:cNvPr>
          <p:cNvGrpSpPr/>
          <p:nvPr/>
        </p:nvGrpSpPr>
        <p:grpSpPr>
          <a:xfrm>
            <a:off x="3777761" y="3544614"/>
            <a:ext cx="726810" cy="431132"/>
            <a:chOff x="6040088" y="3862295"/>
            <a:chExt cx="726810" cy="408704"/>
          </a:xfrm>
          <a:noFill/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AEC9485B-B8D9-41C9-B86C-B712B374184B}"/>
                </a:ext>
              </a:extLst>
            </p:cNvPr>
            <p:cNvSpPr txBox="1"/>
            <p:nvPr/>
          </p:nvSpPr>
          <p:spPr>
            <a:xfrm>
              <a:off x="6040088" y="3891703"/>
              <a:ext cx="707217" cy="3792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en-US" altLang="zh-CN" sz="2000" b="1">
                  <a:latin typeface="+mn-ea"/>
                </a:rPr>
                <a:t>0×2</a:t>
              </a:r>
              <a:endParaRPr lang="zh-CN" altLang="en-US" sz="1200" b="1" dirty="0">
                <a:latin typeface="+mn-ea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FE274A2B-8689-4EB1-AA9C-E5FA662F63B9}"/>
                </a:ext>
              </a:extLst>
            </p:cNvPr>
            <p:cNvSpPr txBox="1"/>
            <p:nvPr/>
          </p:nvSpPr>
          <p:spPr>
            <a:xfrm>
              <a:off x="6517722" y="3862295"/>
              <a:ext cx="249176" cy="291766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altLang="zh-CN" sz="1400" b="1">
                  <a:latin typeface="+mn-ea"/>
                </a:rPr>
                <a:t>1</a:t>
              </a:r>
              <a:endParaRPr lang="zh-CN" altLang="en-US" sz="1400" b="1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0D7CD58-5DA8-497D-BC04-AD39C0F2663E}"/>
              </a:ext>
            </a:extLst>
          </p:cNvPr>
          <p:cNvGrpSpPr/>
          <p:nvPr/>
        </p:nvGrpSpPr>
        <p:grpSpPr>
          <a:xfrm>
            <a:off x="4996787" y="3544612"/>
            <a:ext cx="726810" cy="429518"/>
            <a:chOff x="6040088" y="3862295"/>
            <a:chExt cx="726810" cy="429518"/>
          </a:xfrm>
          <a:noFill/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6859EB46-22DC-428B-9EA5-C316BA5F5928}"/>
                </a:ext>
              </a:extLst>
            </p:cNvPr>
            <p:cNvSpPr txBox="1"/>
            <p:nvPr/>
          </p:nvSpPr>
          <p:spPr>
            <a:xfrm>
              <a:off x="6040088" y="3891703"/>
              <a:ext cx="707217" cy="4001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en-US" altLang="zh-CN" sz="2000" b="1">
                  <a:latin typeface="+mn-ea"/>
                </a:rPr>
                <a:t>0×2</a:t>
              </a:r>
              <a:endParaRPr lang="zh-CN" altLang="en-US" sz="1200" b="1" dirty="0">
                <a:latin typeface="+mn-ea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D6B3D4C1-FCB3-4C2B-B8F0-25174BDA5721}"/>
                </a:ext>
              </a:extLst>
            </p:cNvPr>
            <p:cNvSpPr txBox="1"/>
            <p:nvPr/>
          </p:nvSpPr>
          <p:spPr>
            <a:xfrm>
              <a:off x="6517722" y="3862295"/>
              <a:ext cx="249176" cy="305621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altLang="zh-CN" sz="1400" b="1">
                  <a:latin typeface="+mn-ea"/>
                </a:rPr>
                <a:t>0</a:t>
              </a:r>
              <a:endParaRPr lang="zh-CN" altLang="en-US" sz="1400" b="1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787BD0F-22CE-4813-A0BC-F1468F451940}"/>
              </a:ext>
            </a:extLst>
          </p:cNvPr>
          <p:cNvGrpSpPr/>
          <p:nvPr/>
        </p:nvGrpSpPr>
        <p:grpSpPr>
          <a:xfrm>
            <a:off x="2129621" y="3573569"/>
            <a:ext cx="2825305" cy="400110"/>
            <a:chOff x="7137370" y="3544612"/>
            <a:chExt cx="2825305" cy="400110"/>
          </a:xfrm>
          <a:noFill/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3A65DE38-7E18-4D2E-81D0-12B345EBEA30}"/>
                </a:ext>
              </a:extLst>
            </p:cNvPr>
            <p:cNvSpPr txBox="1"/>
            <p:nvPr/>
          </p:nvSpPr>
          <p:spPr>
            <a:xfrm>
              <a:off x="7137370" y="3544612"/>
              <a:ext cx="366011" cy="4001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en-US" altLang="zh-CN" sz="2000" b="1">
                  <a:solidFill>
                    <a:srgbClr val="FF0000"/>
                  </a:solidFill>
                  <a:latin typeface="+mn-ea"/>
                </a:rPr>
                <a:t>+</a:t>
              </a:r>
              <a:endParaRPr lang="zh-CN" altLang="en-US" sz="12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F2DF4E04-2EED-4883-9A27-EB661B05CBF4}"/>
                </a:ext>
              </a:extLst>
            </p:cNvPr>
            <p:cNvSpPr txBox="1"/>
            <p:nvPr/>
          </p:nvSpPr>
          <p:spPr>
            <a:xfrm>
              <a:off x="8367017" y="3544612"/>
              <a:ext cx="366011" cy="4001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en-US" altLang="zh-CN" sz="2000" b="1">
                  <a:solidFill>
                    <a:srgbClr val="FF0000"/>
                  </a:solidFill>
                  <a:latin typeface="+mn-ea"/>
                </a:rPr>
                <a:t>+</a:t>
              </a:r>
              <a:endParaRPr lang="zh-CN" altLang="en-US" sz="12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979ABFA2-790B-4F10-A2DC-2E0766BFF421}"/>
                </a:ext>
              </a:extLst>
            </p:cNvPr>
            <p:cNvSpPr txBox="1"/>
            <p:nvPr/>
          </p:nvSpPr>
          <p:spPr>
            <a:xfrm>
              <a:off x="9596664" y="3544612"/>
              <a:ext cx="366011" cy="4001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en-US" altLang="zh-CN" sz="2000" b="1">
                  <a:solidFill>
                    <a:srgbClr val="FF0000"/>
                  </a:solidFill>
                  <a:latin typeface="+mn-ea"/>
                </a:rPr>
                <a:t>+</a:t>
              </a:r>
              <a:endParaRPr lang="zh-CN" altLang="en-US" sz="1200" b="1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A2F581C9-4E62-4701-8925-5C3144F8CC8D}"/>
              </a:ext>
            </a:extLst>
          </p:cNvPr>
          <p:cNvSpPr txBox="1"/>
          <p:nvPr/>
        </p:nvSpPr>
        <p:spPr>
          <a:xfrm>
            <a:off x="1330606" y="4096148"/>
            <a:ext cx="1362199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>
                <a:latin typeface="+mn-ea"/>
              </a:rPr>
              <a:t>= 4</a:t>
            </a:r>
            <a:r>
              <a:rPr lang="en-US" altLang="zh-CN" sz="1400">
                <a:solidFill>
                  <a:schemeClr val="bg2">
                    <a:lumMod val="75000"/>
                  </a:schemeClr>
                </a:solidFill>
                <a:latin typeface="+mn-ea"/>
              </a:rPr>
              <a:t>(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+mn-ea"/>
              </a:rPr>
              <a:t>十进制</a:t>
            </a:r>
            <a:r>
              <a:rPr lang="en-US" altLang="zh-CN" sz="1400">
                <a:solidFill>
                  <a:schemeClr val="bg2">
                    <a:lumMod val="75000"/>
                  </a:schemeClr>
                </a:solidFill>
                <a:latin typeface="+mn-ea"/>
              </a:rPr>
              <a:t>)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86B2051-0F7D-43A8-9244-5CDC265A8356}"/>
              </a:ext>
            </a:extLst>
          </p:cNvPr>
          <p:cNvSpPr txBox="1"/>
          <p:nvPr/>
        </p:nvSpPr>
        <p:spPr>
          <a:xfrm>
            <a:off x="1339709" y="4564389"/>
            <a:ext cx="1568633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>
                <a:latin typeface="+mn-ea"/>
              </a:rPr>
              <a:t>= 4</a:t>
            </a:r>
            <a:r>
              <a:rPr lang="en-US" altLang="zh-CN" sz="1400">
                <a:solidFill>
                  <a:schemeClr val="bg2">
                    <a:lumMod val="75000"/>
                  </a:schemeClr>
                </a:solidFill>
                <a:latin typeface="+mn-ea"/>
              </a:rPr>
              <a:t>(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+mn-ea"/>
              </a:rPr>
              <a:t>十六进制</a:t>
            </a:r>
            <a:r>
              <a:rPr lang="en-US" altLang="zh-CN" sz="1400">
                <a:solidFill>
                  <a:schemeClr val="bg2">
                    <a:lumMod val="75000"/>
                  </a:schemeClr>
                </a:solidFill>
                <a:latin typeface="+mn-ea"/>
              </a:rPr>
              <a:t>)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4D4230-F39B-0BC7-467D-08B6D3B28852}"/>
              </a:ext>
            </a:extLst>
          </p:cNvPr>
          <p:cNvSpPr txBox="1"/>
          <p:nvPr/>
        </p:nvSpPr>
        <p:spPr>
          <a:xfrm>
            <a:off x="2196292" y="260369"/>
            <a:ext cx="3527305" cy="369332"/>
          </a:xfrm>
          <a:prstGeom prst="rect">
            <a:avLst/>
          </a:prstGeom>
          <a:solidFill>
            <a:schemeClr val="l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需求：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1001011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转成十六进制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334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13" grpId="0" animBg="1"/>
      <p:bldP spid="16" grpId="0" animBg="1"/>
      <p:bldP spid="17" grpId="0"/>
      <p:bldP spid="37" grpId="0"/>
      <p:bldP spid="38" grpId="0"/>
      <p:bldP spid="55" grpId="0"/>
      <p:bldP spid="56" grpId="0"/>
      <p:bldP spid="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c064124-f537-4a0d-887a-4f44502825de"/>
  <p:tag name="COMMONDATA" val="eyJoZGlkIjoiNWM2ZTM5MWI1NGI2YTlmMTlhZGVmZWRhMzc2ZTZjN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>
          <a:noFill/>
        </a:ln>
      </a:spPr>
      <a:bodyPr wrap="square" rtlCol="0">
        <a:spAutoFit/>
      </a:bodyPr>
      <a:lstStyle>
        <a:defPPr algn="l">
          <a:defRPr sz="1600" dirty="0" smtClean="0">
            <a:latin typeface="宋体" panose="02010600030101010101" pitchFamily="2" charset="-122"/>
            <a:ea typeface="宋体" panose="02010600030101010101" pitchFamily="2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宽屏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</cp:revision>
  <dcterms:created xsi:type="dcterms:W3CDTF">2018-03-01T02:03:00Z</dcterms:created>
  <dcterms:modified xsi:type="dcterms:W3CDTF">2025-02-13T03:32:21Z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F7B4B2F6CD0549B6AE63142D8D89DB87_12</vt:lpwstr>
  </property>
</Properties>
</file>