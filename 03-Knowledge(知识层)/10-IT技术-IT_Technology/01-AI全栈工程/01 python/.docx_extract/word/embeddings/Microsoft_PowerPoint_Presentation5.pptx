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00AF92"/>
    <a:srgbClr val="FDA007"/>
    <a:srgbClr val="006450"/>
    <a:srgbClr val="028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948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221" y="1854524"/>
            <a:ext cx="9145325" cy="1656052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221" y="3602668"/>
            <a:ext cx="9145325" cy="165605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2023-10-27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321" y="1838644"/>
            <a:ext cx="10517123" cy="43520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321" y="2187825"/>
            <a:ext cx="10517123" cy="2483549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321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094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10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910" y="1745267"/>
            <a:ext cx="5158534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910" y="2616067"/>
            <a:ext cx="5158534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3094" y="1745267"/>
            <a:ext cx="5183939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3094" y="2616067"/>
            <a:ext cx="5183939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969" y="2159377"/>
            <a:ext cx="5715828" cy="1382692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969" y="3733855"/>
            <a:ext cx="5715828" cy="1186144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321" y="713797"/>
            <a:ext cx="4682333" cy="142841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3335" y="713797"/>
            <a:ext cx="5712710" cy="54045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835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321" y="2314277"/>
            <a:ext cx="4682333" cy="381225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2023-10-27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6412" y="365189"/>
            <a:ext cx="909033" cy="5812855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320" y="365189"/>
            <a:ext cx="9447811" cy="5812855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321" y="551640"/>
            <a:ext cx="10517123" cy="555994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02834F8-39F9-46E5-B25D-807C39C1B203}"/>
              </a:ext>
            </a:extLst>
          </p:cNvPr>
          <p:cNvSpPr txBox="1"/>
          <p:nvPr/>
        </p:nvSpPr>
        <p:spPr>
          <a:xfrm>
            <a:off x="2282156" y="1166070"/>
            <a:ext cx="2986131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latin typeface="+mn-ea"/>
              </a:rPr>
              <a:t>十六进制数字：</a:t>
            </a:r>
            <a:r>
              <a:rPr lang="en-US" altLang="zh-CN" sz="2000" dirty="0">
                <a:latin typeface="+mn-ea"/>
              </a:rPr>
              <a:t>23B</a:t>
            </a:r>
            <a:endParaRPr lang="zh-CN" altLang="en-US" sz="2000" dirty="0">
              <a:latin typeface="+mn-ea"/>
            </a:endParaRPr>
          </a:p>
        </p:txBody>
      </p:sp>
      <p:graphicFrame>
        <p:nvGraphicFramePr>
          <p:cNvPr id="9" name="表格 11">
            <a:extLst>
              <a:ext uri="{FF2B5EF4-FFF2-40B4-BE49-F238E27FC236}">
                <a16:creationId xmlns:a16="http://schemas.microsoft.com/office/drawing/2014/main" id="{A2E22501-8A27-43C0-ACD4-A128161DF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468795"/>
              </p:ext>
            </p:extLst>
          </p:nvPr>
        </p:nvGraphicFramePr>
        <p:xfrm>
          <a:off x="8395980" y="2939444"/>
          <a:ext cx="3748948" cy="489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37">
                  <a:extLst>
                    <a:ext uri="{9D8B030D-6E8A-4147-A177-3AD203B41FA5}">
                      <a16:colId xmlns:a16="http://schemas.microsoft.com/office/drawing/2014/main" val="1609662033"/>
                    </a:ext>
                  </a:extLst>
                </a:gridCol>
                <a:gridCol w="937237">
                  <a:extLst>
                    <a:ext uri="{9D8B030D-6E8A-4147-A177-3AD203B41FA5}">
                      <a16:colId xmlns:a16="http://schemas.microsoft.com/office/drawing/2014/main" val="4202506646"/>
                    </a:ext>
                  </a:extLst>
                </a:gridCol>
                <a:gridCol w="937237">
                  <a:extLst>
                    <a:ext uri="{9D8B030D-6E8A-4147-A177-3AD203B41FA5}">
                      <a16:colId xmlns:a16="http://schemas.microsoft.com/office/drawing/2014/main" val="3125928400"/>
                    </a:ext>
                  </a:extLst>
                </a:gridCol>
                <a:gridCol w="937237">
                  <a:extLst>
                    <a:ext uri="{9D8B030D-6E8A-4147-A177-3AD203B41FA5}">
                      <a16:colId xmlns:a16="http://schemas.microsoft.com/office/drawing/2014/main" val="1380778868"/>
                    </a:ext>
                  </a:extLst>
                </a:gridCol>
              </a:tblGrid>
              <a:tr h="4895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zh-CN" altLang="en-US" sz="2000" b="1" baseline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73838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3BD14166-0A40-4AA2-B723-9D1356F3DF85}"/>
              </a:ext>
            </a:extLst>
          </p:cNvPr>
          <p:cNvSpPr txBox="1"/>
          <p:nvPr/>
        </p:nvSpPr>
        <p:spPr>
          <a:xfrm>
            <a:off x="2347052" y="1964422"/>
            <a:ext cx="303869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altLang="zh-CN" sz="2000" dirty="0">
                <a:latin typeface="+mn-ea"/>
              </a:rPr>
              <a:t>2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6A2E883-EAD5-4AB5-9ED7-9CF96E0B9BE3}"/>
              </a:ext>
            </a:extLst>
          </p:cNvPr>
          <p:cNvSpPr txBox="1"/>
          <p:nvPr/>
        </p:nvSpPr>
        <p:spPr>
          <a:xfrm>
            <a:off x="6096000" y="1982833"/>
            <a:ext cx="303869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altLang="zh-CN" sz="2000" dirty="0">
                <a:latin typeface="+mn-ea"/>
              </a:rPr>
              <a:t>3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C3A46A-7E42-4E06-AE49-04219F7E97E4}"/>
              </a:ext>
            </a:extLst>
          </p:cNvPr>
          <p:cNvSpPr txBox="1"/>
          <p:nvPr/>
        </p:nvSpPr>
        <p:spPr>
          <a:xfrm>
            <a:off x="9446934" y="1956268"/>
            <a:ext cx="303869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altLang="zh-CN" sz="2000" dirty="0">
                <a:latin typeface="+mn-ea"/>
              </a:rPr>
              <a:t>B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A65E10B-460F-4EB3-9D42-E98854B4D5CD}"/>
              </a:ext>
            </a:extLst>
          </p:cNvPr>
          <p:cNvSpPr txBox="1"/>
          <p:nvPr/>
        </p:nvSpPr>
        <p:spPr>
          <a:xfrm>
            <a:off x="10270454" y="1956268"/>
            <a:ext cx="534566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altLang="zh-CN" sz="2000" dirty="0">
                <a:latin typeface="+mn-ea"/>
              </a:rPr>
              <a:t>11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66BFF13-5226-4D95-B598-275064C3A01E}"/>
              </a:ext>
            </a:extLst>
          </p:cNvPr>
          <p:cNvCxnSpPr>
            <a:cxnSpLocks/>
          </p:cNvCxnSpPr>
          <p:nvPr/>
        </p:nvCxnSpPr>
        <p:spPr>
          <a:xfrm>
            <a:off x="9844948" y="2140943"/>
            <a:ext cx="329500" cy="3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表格 11">
            <a:extLst>
              <a:ext uri="{FF2B5EF4-FFF2-40B4-BE49-F238E27FC236}">
                <a16:creationId xmlns:a16="http://schemas.microsoft.com/office/drawing/2014/main" id="{902DC459-E59F-4275-9AB8-5A3860E63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407255"/>
              </p:ext>
            </p:extLst>
          </p:nvPr>
        </p:nvGraphicFramePr>
        <p:xfrm>
          <a:off x="4373460" y="2939444"/>
          <a:ext cx="3748948" cy="489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37">
                  <a:extLst>
                    <a:ext uri="{9D8B030D-6E8A-4147-A177-3AD203B41FA5}">
                      <a16:colId xmlns:a16="http://schemas.microsoft.com/office/drawing/2014/main" val="1609662033"/>
                    </a:ext>
                  </a:extLst>
                </a:gridCol>
                <a:gridCol w="937237">
                  <a:extLst>
                    <a:ext uri="{9D8B030D-6E8A-4147-A177-3AD203B41FA5}">
                      <a16:colId xmlns:a16="http://schemas.microsoft.com/office/drawing/2014/main" val="4202506646"/>
                    </a:ext>
                  </a:extLst>
                </a:gridCol>
                <a:gridCol w="937237">
                  <a:extLst>
                    <a:ext uri="{9D8B030D-6E8A-4147-A177-3AD203B41FA5}">
                      <a16:colId xmlns:a16="http://schemas.microsoft.com/office/drawing/2014/main" val="3125928400"/>
                    </a:ext>
                  </a:extLst>
                </a:gridCol>
                <a:gridCol w="937237">
                  <a:extLst>
                    <a:ext uri="{9D8B030D-6E8A-4147-A177-3AD203B41FA5}">
                      <a16:colId xmlns:a16="http://schemas.microsoft.com/office/drawing/2014/main" val="1380778868"/>
                    </a:ext>
                  </a:extLst>
                </a:gridCol>
              </a:tblGrid>
              <a:tr h="4895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</a:t>
                      </a:r>
                      <a:endParaRPr lang="zh-CN" altLang="en-US" sz="2000" b="1" baseline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73838"/>
                  </a:ext>
                </a:extLst>
              </a:tr>
            </a:tbl>
          </a:graphicData>
        </a:graphic>
      </p:graphicFrame>
      <p:graphicFrame>
        <p:nvGraphicFramePr>
          <p:cNvPr id="20" name="表格 11">
            <a:extLst>
              <a:ext uri="{FF2B5EF4-FFF2-40B4-BE49-F238E27FC236}">
                <a16:creationId xmlns:a16="http://schemas.microsoft.com/office/drawing/2014/main" id="{30EE4BE6-9839-47BC-8463-F336C89BBD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563219"/>
              </p:ext>
            </p:extLst>
          </p:nvPr>
        </p:nvGraphicFramePr>
        <p:xfrm>
          <a:off x="407682" y="2939444"/>
          <a:ext cx="3748948" cy="489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37">
                  <a:extLst>
                    <a:ext uri="{9D8B030D-6E8A-4147-A177-3AD203B41FA5}">
                      <a16:colId xmlns:a16="http://schemas.microsoft.com/office/drawing/2014/main" val="1609662033"/>
                    </a:ext>
                  </a:extLst>
                </a:gridCol>
                <a:gridCol w="937237">
                  <a:extLst>
                    <a:ext uri="{9D8B030D-6E8A-4147-A177-3AD203B41FA5}">
                      <a16:colId xmlns:a16="http://schemas.microsoft.com/office/drawing/2014/main" val="4202506646"/>
                    </a:ext>
                  </a:extLst>
                </a:gridCol>
                <a:gridCol w="937237">
                  <a:extLst>
                    <a:ext uri="{9D8B030D-6E8A-4147-A177-3AD203B41FA5}">
                      <a16:colId xmlns:a16="http://schemas.microsoft.com/office/drawing/2014/main" val="3125928400"/>
                    </a:ext>
                  </a:extLst>
                </a:gridCol>
                <a:gridCol w="937237">
                  <a:extLst>
                    <a:ext uri="{9D8B030D-6E8A-4147-A177-3AD203B41FA5}">
                      <a16:colId xmlns:a16="http://schemas.microsoft.com/office/drawing/2014/main" val="1380778868"/>
                    </a:ext>
                  </a:extLst>
                </a:gridCol>
              </a:tblGrid>
              <a:tr h="4895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</a:t>
                      </a:r>
                      <a:endParaRPr lang="zh-CN" altLang="en-US" sz="2000" b="1" baseline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73838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4C773412-1C1C-4AC9-B1C6-ED4B2EEB7100}"/>
              </a:ext>
            </a:extLst>
          </p:cNvPr>
          <p:cNvSpPr txBox="1"/>
          <p:nvPr/>
        </p:nvSpPr>
        <p:spPr>
          <a:xfrm>
            <a:off x="4334866" y="4602209"/>
            <a:ext cx="4130005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latin typeface="+mn-ea"/>
              </a:rPr>
              <a:t>对应的二进制数字：</a:t>
            </a:r>
            <a:r>
              <a:rPr lang="en-US" altLang="zh-CN" sz="2000" dirty="0">
                <a:latin typeface="+mn-ea"/>
              </a:rPr>
              <a:t>1000111011</a:t>
            </a:r>
            <a:endParaRPr lang="zh-CN" altLang="en-US" sz="20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2A65B5-6A23-FA1B-5B6E-3AA59EFB9058}"/>
              </a:ext>
            </a:extLst>
          </p:cNvPr>
          <p:cNvSpPr txBox="1"/>
          <p:nvPr/>
        </p:nvSpPr>
        <p:spPr>
          <a:xfrm>
            <a:off x="2094389" y="264805"/>
            <a:ext cx="3367948" cy="369332"/>
          </a:xfrm>
          <a:prstGeom prst="rect">
            <a:avLst/>
          </a:prstGeom>
          <a:solidFill>
            <a:schemeClr val="l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需求：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请将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0x23B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转成二进制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334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  <p:bldP spid="15" grpId="0" animBg="1"/>
      <p:bldP spid="18" grpId="0" animBg="1"/>
      <p:bldP spid="21" grpId="0" animBg="1"/>
      <p:bldP spid="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c064124-f537-4a0d-887a-4f44502825de"/>
  <p:tag name="COMMONDATA" val="eyJoZGlkIjoiNWM2ZTM5MWI1NGI2YTlmMTlhZGVmZWRhMzc2ZTZjN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>
          <a:noFill/>
        </a:ln>
      </a:spPr>
      <a:bodyPr wrap="square" rtlCol="0">
        <a:spAutoFit/>
      </a:bodyPr>
      <a:lstStyle>
        <a:defPPr algn="l">
          <a:defRPr sz="1600" dirty="0" smtClean="0">
            <a:latin typeface="宋体" panose="02010600030101010101" pitchFamily="2" charset="-122"/>
            <a:ea typeface="宋体" panose="02010600030101010101" pitchFamily="2" charset="-122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Arial</vt:lpstr>
      <vt:lpstr>Calibri</vt:lpstr>
      <vt:lpstr>Times New Roman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</cp:revision>
  <dcterms:created xsi:type="dcterms:W3CDTF">2018-03-01T02:03:00Z</dcterms:created>
  <dcterms:modified xsi:type="dcterms:W3CDTF">2023-10-27T06:25:35Z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F7B4B2F6CD0549B6AE63142D8D89DB87_12</vt:lpwstr>
  </property>
</Properties>
</file>